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8180CE1-032E-1571-EF49-06CC655EDFBF}">
          <p14:sldIdLst>
            <p14:sldId id="256"/>
          </p14:sldIdLst>
        </p14:section>
        <p14:section name="Concept" id="{4C60E735-0D3F-257C-FB89-DE0DE5A54C7E}">
          <p14:sldIdLst>
            <p14:sldId id="257"/>
            <p14:sldId id="258"/>
            <p14:sldId id="259"/>
            <p14:sldId id="260"/>
          </p14:sldIdLst>
        </p14:section>
        <p14:section name="Build and results" id="{0CF6D3A7-C696-A067-0795-4FB8102D68D2}">
          <p14:sldIdLst>
            <p14:sldId id="261"/>
            <p14:sldId id="262"/>
            <p14:sldId id="266"/>
          </p14:sldIdLst>
        </p14:section>
        <p14:section name="Wrap-up" id="{88147A40-B670-FDD0-FB4E-F0594B708572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684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track: Quantum Secure Communication. One line: we simulate a quantum key exchange and show that an eavesdropper can be detected.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problem. Key exchange today depends on hard maths, and a classical eavesdropper leaves no trace. The question on the bottom bar is what BB84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physical facts make this work: wrong-basis measurements are random, measuring disturbs the state, and states cannot be cloned. Eve cannot know the basis in advance, so she disturbs some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steps left to right. Only the bases are announced publicly, never the bits. Z and X are two different ways of measuring the same qubit.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Highlighted columns are the positions where Alice's and Bob's bases matched. Only those bits go into the key. Without Eve, Bob's bit equals Alice's bit in every matched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qubit is one tiny circuit: prepare, optionally pass through Eve, then Bob measures. The pipeline across the top is that circuit. Mention the GitHub repo contains the full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calculation. Half the time Eve guesses the wrong basis. When she does, her resent qubit gives Bob a random bit, which is wrong half the time. 0.5 x 0.5 = 25%.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cell is 200 simulated runs. Green means the attack usually goes unnoticed, red means it is detected. The boundary moves down as noise rises: noise eats into the error budget. The zone is bounded on both sides: on a noisy channel honest users get false alarms, on a clean one a small attacker can still stay below the threshold. Hiding here means detected in under half the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limits: this is a simulation of one attack. Then show where it goes next: hardware, error correction, other protocols, and hybrid post-quantum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then the GitHub link. Replace the placeholder with your real repository URL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1188720"/>
            <a:ext cx="75895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3566160"/>
            <a:ext cx="75895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r>
              <a:rPr lang="en-US" sz="2000" dirty="0">
                <a:solidFill>
                  <a:schemeClr val="bg2"/>
                </a:solidFill>
              </a:rPr>
              <a:t>Subtitle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Qiskit Fall Fest 2026 @ MPSTME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800" b="1" dirty="0">
                <a:solidFill>
                  <a:schemeClr val="bg1"/>
                </a:solidFill>
              </a:rPr>
              <a:t>Title</a:t>
            </a:r>
            <a:endParaRPr lang="en-US" sz="38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1920240"/>
            <a:ext cx="6309360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800" dirty="0">
                <a:solidFill>
                  <a:schemeClr val="bg1"/>
                </a:solidFill>
              </a:rPr>
              <a:t>Body</a:t>
            </a: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118872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Detecting Eavesdroppers with BB84 Quantum Key Distribution</a:t>
            </a:r>
            <a:endParaRPr lang="en-US" sz="40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3566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2"/>
                </a:solidFill>
              </a:rPr>
              <a:t>A Qiskit simulation of quantum-secure key exchange: can we tell Eve from noise?</a:t>
            </a:r>
            <a:endParaRPr lang="en-US" sz="2000" dirty="0"/>
          </a:p>
        </p:txBody>
      </p:sp>
      <p:sp>
        <p:nvSpPr>
          <p:cNvPr id="4" name="Orbit ring 1"/>
          <p:cNvSpPr/>
          <p:nvPr/>
        </p:nvSpPr>
        <p:spPr>
          <a:xfrm>
            <a:off x="8503920" y="1783080"/>
            <a:ext cx="3291840" cy="3291840"/>
          </a:xfrm>
          <a:prstGeom prst="ellipse">
            <a:avLst/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5" name="Orbit ring 2"/>
          <p:cNvSpPr/>
          <p:nvPr/>
        </p:nvSpPr>
        <p:spPr>
          <a:xfrm>
            <a:off x="8961120" y="2240280"/>
            <a:ext cx="2377440" cy="2377440"/>
          </a:xfrm>
          <a:prstGeom prst="ellipse">
            <a:avLst/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6" name="Orbit ring 3"/>
          <p:cNvSpPr/>
          <p:nvPr/>
        </p:nvSpPr>
        <p:spPr>
          <a:xfrm>
            <a:off x="9418320" y="2697480"/>
            <a:ext cx="1463040" cy="1463040"/>
          </a:xfrm>
          <a:prstGeom prst="ellipse">
            <a:avLst/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7" name="Atom circle"/>
          <p:cNvSpPr/>
          <p:nvPr/>
        </p:nvSpPr>
        <p:spPr>
          <a:xfrm>
            <a:off x="9646920" y="29260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Atom icon" descr="At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0" y="3177540"/>
            <a:ext cx="502920" cy="502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754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Team </a:t>
            </a:r>
            <a:r>
              <a:rPr lang="en-US" b="1" dirty="0" err="1">
                <a:solidFill>
                  <a:schemeClr val="bg1"/>
                </a:solidFill>
              </a:rPr>
              <a:t>Kichkat</a:t>
            </a:r>
            <a:r>
              <a:rPr lang="en-US" sz="1800" b="1" dirty="0">
                <a:solidFill>
                  <a:schemeClr val="bg1"/>
                </a:solidFill>
              </a:rPr>
              <a:t> | Kshiraja </a:t>
            </a:r>
            <a:r>
              <a:rPr lang="en-US" sz="1800" b="1" dirty="0" err="1">
                <a:solidFill>
                  <a:schemeClr val="bg1"/>
                </a:solidFill>
              </a:rPr>
              <a:t>Dhamal</a:t>
            </a:r>
            <a:r>
              <a:rPr lang="en-US" sz="1800" b="1" dirty="0">
                <a:solidFill>
                  <a:schemeClr val="bg1"/>
                </a:solidFill>
              </a:rPr>
              <a:t>, Srishti Shewale, Samiksha Patil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3035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Qiskit Fall Fest 2026 @ MPSTME  |  Hybrid Quantum Hackathon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The problem: sharing secrets safely</a:t>
            </a:r>
            <a:endParaRPr lang="en-US" sz="3400" dirty="0"/>
          </a:p>
        </p:txBody>
      </p:sp>
      <p:sp>
        <p:nvSpPr>
          <p:cNvPr id="3" name="Problem card 1"/>
          <p:cNvSpPr/>
          <p:nvPr/>
        </p:nvSpPr>
        <p:spPr>
          <a:xfrm>
            <a:off x="548640" y="1554480"/>
            <a:ext cx="53949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4" name="Maths-based key exchange circle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Maths-based key exchange icon" descr="Maths-based key exchan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65960" y="1920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Maths-based key exchange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0175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Today's key exchange relies on problems that are hard for classical computers. A large quantum computer could solve them using Shor's algorithm.</a:t>
            </a:r>
            <a:endParaRPr lang="en-US" sz="1600" dirty="0"/>
          </a:p>
        </p:txBody>
      </p:sp>
      <p:sp>
        <p:nvSpPr>
          <p:cNvPr id="8" name="Problem card 2"/>
          <p:cNvSpPr/>
          <p:nvPr/>
        </p:nvSpPr>
        <p:spPr>
          <a:xfrm>
            <a:off x="6245352" y="1554480"/>
            <a:ext cx="53949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9" name="Eavesdropping is invisible circle"/>
          <p:cNvSpPr/>
          <p:nvPr/>
        </p:nvSpPr>
        <p:spPr>
          <a:xfrm>
            <a:off x="6611112" y="19202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Eavesdropping is invisible icon" descr="Eavesdropping is invisib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21259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62672" y="1920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Eavesdropping is invisible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30175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On a classical channel, someone can copy the traffic without leaving a trace. Data recorded today could be decrypted later.</a:t>
            </a:r>
            <a:endParaRPr lang="en-US" sz="1600" dirty="0"/>
          </a:p>
        </p:txBody>
      </p:sp>
      <p:sp>
        <p:nvSpPr>
          <p:cNvPr id="13" name="Question bar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Can two parties share a secret key and be able to tell if someone listened?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Why quantum: measuring changes the state</a:t>
            </a:r>
            <a:endParaRPr lang="en-US" sz="3400" dirty="0"/>
          </a:p>
        </p:txBody>
      </p:sp>
      <p:sp>
        <p:nvSpPr>
          <p:cNvPr id="3" name="Superposition and bases circle"/>
          <p:cNvSpPr/>
          <p:nvPr/>
        </p:nvSpPr>
        <p:spPr>
          <a:xfrm>
            <a:off x="548640" y="17830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uperposition and bases icon" descr="Superposition and bas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98882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Superposition and bases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2057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 qubit prepared in the X basis has no definite Z value. Measuring in the wrong basis gives a random result.</a:t>
            </a:r>
            <a:endParaRPr lang="en-US" sz="1500" dirty="0"/>
          </a:p>
        </p:txBody>
      </p:sp>
      <p:sp>
        <p:nvSpPr>
          <p:cNvPr id="7" name="Measurement disturbs the state circle"/>
          <p:cNvSpPr/>
          <p:nvPr/>
        </p:nvSpPr>
        <p:spPr>
          <a:xfrm>
            <a:off x="548640" y="33375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Measurement disturbs the state icon" descr="Measurement disturbs the sta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54330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31089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Measurement disturbs the state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361188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Measuring collapses the qubit. After a wrong-basis measurement the original information is lost.</a:t>
            </a:r>
            <a:endParaRPr lang="en-US" sz="1500" dirty="0"/>
          </a:p>
        </p:txBody>
      </p:sp>
      <p:sp>
        <p:nvSpPr>
          <p:cNvPr id="11" name="No-cloning theorem circle"/>
          <p:cNvSpPr/>
          <p:nvPr/>
        </p:nvSpPr>
        <p:spPr>
          <a:xfrm>
            <a:off x="548640" y="48920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No-cloning theorem icon" descr="No-cloning theore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509778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46634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No-cloning theorem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51663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An unknown quantum state cannot be copied perfectly, so Eve cannot keep a copy and forward the original.</a:t>
            </a:r>
            <a:endParaRPr lang="en-US" sz="1500" dirty="0"/>
          </a:p>
        </p:txBody>
      </p:sp>
      <p:sp>
        <p:nvSpPr>
          <p:cNvPr id="15" name="Measurement outcome panel"/>
          <p:cNvSpPr/>
          <p:nvPr/>
        </p:nvSpPr>
        <p:spPr>
          <a:xfrm>
            <a:off x="7680960" y="1554480"/>
            <a:ext cx="3931920" cy="44805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0467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Bob's measurement outcome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24688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100%</a:t>
            </a:r>
            <a:endParaRPr lang="en-US" sz="4800" dirty="0"/>
          </a:p>
        </p:txBody>
      </p:sp>
      <p:sp>
        <p:nvSpPr>
          <p:cNvPr id="18" name="Text 13"/>
          <p:cNvSpPr txBox="1"/>
          <p:nvPr/>
        </p:nvSpPr>
        <p:spPr>
          <a:xfrm>
            <a:off x="804672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Same basis: the correct bit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046720" y="4114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50%</a:t>
            </a:r>
            <a:endParaRPr lang="en-US" sz="4800" dirty="0"/>
          </a:p>
        </p:txBody>
      </p:sp>
      <p:sp>
        <p:nvSpPr>
          <p:cNvPr id="20" name="Text 15"/>
          <p:cNvSpPr txBox="1"/>
          <p:nvPr/>
        </p:nvSpPr>
        <p:spPr>
          <a:xfrm>
            <a:off x="804672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Different basis: a random result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How BB84 works</a:t>
            </a:r>
            <a:endParaRPr lang="en-US" sz="3400" dirty="0"/>
          </a:p>
        </p:txBody>
      </p:sp>
      <p:sp>
        <p:nvSpPr>
          <p:cNvPr id="3" name="Step card 1"/>
          <p:cNvSpPr/>
          <p:nvPr/>
        </p:nvSpPr>
        <p:spPr>
          <a:xfrm>
            <a:off x="548640" y="1645920"/>
            <a:ext cx="2057400" cy="32918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4" name="Step number 1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Prepare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Alice picks random bits and random bases (Z or X) and encodes each bit in a qubit.</a:t>
            </a:r>
            <a:endParaRPr lang="en-US" sz="1400" dirty="0"/>
          </a:p>
        </p:txBody>
      </p:sp>
      <p:sp>
        <p:nvSpPr>
          <p:cNvPr id="7" name="Step card 2"/>
          <p:cNvSpPr/>
          <p:nvPr/>
        </p:nvSpPr>
        <p:spPr>
          <a:xfrm>
            <a:off x="2788920" y="1645920"/>
            <a:ext cx="2057400" cy="32918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8" name="Step number 2"/>
          <p:cNvSpPr/>
          <p:nvPr/>
        </p:nvSpPr>
        <p:spPr>
          <a:xfrm>
            <a:off x="306324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Transmit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32461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qubits travel to Bob. Eve may intercept and resend them.</a:t>
            </a:r>
            <a:endParaRPr lang="en-US" sz="1400" dirty="0"/>
          </a:p>
        </p:txBody>
      </p:sp>
      <p:sp>
        <p:nvSpPr>
          <p:cNvPr id="11" name="Step card 3"/>
          <p:cNvSpPr/>
          <p:nvPr/>
        </p:nvSpPr>
        <p:spPr>
          <a:xfrm>
            <a:off x="5029200" y="1645920"/>
            <a:ext cx="2057400" cy="32918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12" name="Step number 3"/>
          <p:cNvSpPr/>
          <p:nvPr/>
        </p:nvSpPr>
        <p:spPr>
          <a:xfrm>
            <a:off x="530352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Measure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32461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Bob measures every qubit in his own random basis.</a:t>
            </a:r>
            <a:endParaRPr lang="en-US" sz="1400" dirty="0"/>
          </a:p>
        </p:txBody>
      </p:sp>
      <p:sp>
        <p:nvSpPr>
          <p:cNvPr id="15" name="Step card 4"/>
          <p:cNvSpPr/>
          <p:nvPr/>
        </p:nvSpPr>
        <p:spPr>
          <a:xfrm>
            <a:off x="7269480" y="1645920"/>
            <a:ext cx="2057400" cy="32918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16" name="Step number 4"/>
          <p:cNvSpPr/>
          <p:nvPr/>
        </p:nvSpPr>
        <p:spPr>
          <a:xfrm>
            <a:off x="754380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Sift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32461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Alice and Bob publicly compare bases and keep the positions where they matched.</a:t>
            </a:r>
            <a:endParaRPr lang="en-US" sz="1400" dirty="0"/>
          </a:p>
        </p:txBody>
      </p:sp>
      <p:sp>
        <p:nvSpPr>
          <p:cNvPr id="19" name="Step card 5"/>
          <p:cNvSpPr/>
          <p:nvPr/>
        </p:nvSpPr>
        <p:spPr>
          <a:xfrm>
            <a:off x="9509760" y="1645920"/>
            <a:ext cx="2057400" cy="32918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20" name="Step number 5"/>
          <p:cNvSpPr/>
          <p:nvPr/>
        </p:nvSpPr>
        <p:spPr>
          <a:xfrm>
            <a:off x="978408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Check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0" y="32461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They compare a sample of the key. A high error rate means interception.</a:t>
            </a:r>
            <a:endParaRPr lang="en-US" sz="1400" dirty="0"/>
          </a:p>
        </p:txBody>
      </p:sp>
      <p:sp>
        <p:nvSpPr>
          <p:cNvPr id="23" name="Basis legend"/>
          <p:cNvSpPr/>
          <p:nvPr/>
        </p:nvSpPr>
        <p:spPr>
          <a:xfrm>
            <a:off x="548640" y="5212080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Z basis: |0&gt;, |1&gt;      X basis: |+&gt;, |-&gt;      Wrong basis gives a random result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Example: sifting the key</a:t>
            </a:r>
            <a:endParaRPr lang="en-US" sz="3400" dirty="0"/>
          </a:p>
        </p:txBody>
      </p:sp>
      <p:graphicFrame>
        <p:nvGraphicFramePr>
          <p:cNvPr id="6" name="Sift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Qubit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2A5C"/>
                          </a:solidFill>
                        </a:rPr>
                        <a:t>Alice's bit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2A5C"/>
                          </a:solidFill>
                        </a:rPr>
                        <a:t>Alice's basis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Z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Z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Z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Z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2A5C"/>
                          </a:solidFill>
                        </a:rPr>
                        <a:t>Bob's basis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Z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Z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Z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2A5C"/>
                          </a:solidFill>
                        </a:rPr>
                        <a:t>Bases match?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Yes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No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Yes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No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Yes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Yes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No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Yes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2A5C"/>
                          </a:solidFill>
                        </a:rPr>
                        <a:t>Key bit kept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-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-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F1B33"/>
                          </a:solidFill>
                        </a:rPr>
                        <a:t>-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F1B33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ifted key bar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8-qubit illustration, no Eve: sifted key = 1 1 0 0 0. On average, half the qubits are kept.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Our Qiskit implementation</a:t>
            </a:r>
            <a:endParaRPr lang="en-US" sz="3400" dirty="0"/>
          </a:p>
        </p:txBody>
      </p:sp>
      <p:sp>
        <p:nvSpPr>
          <p:cNvPr id="3" name="Gate box 1"/>
          <p:cNvSpPr/>
          <p:nvPr/>
        </p:nvSpPr>
        <p:spPr>
          <a:xfrm>
            <a:off x="548640" y="1645920"/>
            <a:ext cx="164592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Start in |0&gt;</a:t>
            </a:r>
            <a:endParaRPr lang="en-US" sz="1400" dirty="0"/>
          </a:p>
        </p:txBody>
      </p:sp>
      <p:sp>
        <p:nvSpPr>
          <p:cNvPr id="4" name="Arrow 1"/>
          <p:cNvSpPr/>
          <p:nvPr/>
        </p:nvSpPr>
        <p:spPr>
          <a:xfrm>
            <a:off x="2203704" y="2011680"/>
            <a:ext cx="219456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5" name="Gate box 2"/>
          <p:cNvSpPr/>
          <p:nvPr/>
        </p:nvSpPr>
        <p:spPr>
          <a:xfrm>
            <a:off x="2432304" y="1645920"/>
            <a:ext cx="164592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X gate if bit = 1</a:t>
            </a:r>
            <a:endParaRPr lang="en-US" sz="1400" dirty="0"/>
          </a:p>
        </p:txBody>
      </p:sp>
      <p:sp>
        <p:nvSpPr>
          <p:cNvPr id="6" name="Arrow 2"/>
          <p:cNvSpPr/>
          <p:nvPr/>
        </p:nvSpPr>
        <p:spPr>
          <a:xfrm>
            <a:off x="4087368" y="2011680"/>
            <a:ext cx="219456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7" name="Gate box 3"/>
          <p:cNvSpPr/>
          <p:nvPr/>
        </p:nvSpPr>
        <p:spPr>
          <a:xfrm>
            <a:off x="4315968" y="1645920"/>
            <a:ext cx="164592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H gate if basis = X</a:t>
            </a:r>
            <a:endParaRPr lang="en-US" sz="1400" dirty="0"/>
          </a:p>
        </p:txBody>
      </p:sp>
      <p:sp>
        <p:nvSpPr>
          <p:cNvPr id="8" name="Arrow 3"/>
          <p:cNvSpPr/>
          <p:nvPr/>
        </p:nvSpPr>
        <p:spPr>
          <a:xfrm>
            <a:off x="5971032" y="2011680"/>
            <a:ext cx="219456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9" name="Gate box 4"/>
          <p:cNvSpPr/>
          <p:nvPr/>
        </p:nvSpPr>
        <p:spPr>
          <a:xfrm>
            <a:off x="6199632" y="1645920"/>
            <a:ext cx="1645920" cy="1005840"/>
          </a:xfrm>
          <a:prstGeom prst="roundRect">
            <a:avLst>
              <a:gd name="adj" fmla="val 9091"/>
            </a:avLst>
          </a:prstGeom>
          <a:solidFill>
            <a:schemeClr val="accent2"/>
          </a:solidFill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Eve measures and resends</a:t>
            </a:r>
            <a:endParaRPr lang="en-US" sz="1400" dirty="0"/>
          </a:p>
        </p:txBody>
      </p:sp>
      <p:sp>
        <p:nvSpPr>
          <p:cNvPr id="10" name="Arrow 4"/>
          <p:cNvSpPr/>
          <p:nvPr/>
        </p:nvSpPr>
        <p:spPr>
          <a:xfrm>
            <a:off x="7854696" y="2011680"/>
            <a:ext cx="219456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1" name="Gate box 5"/>
          <p:cNvSpPr/>
          <p:nvPr/>
        </p:nvSpPr>
        <p:spPr>
          <a:xfrm>
            <a:off x="8083296" y="1645920"/>
            <a:ext cx="164592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H gate if Bob's basis = X</a:t>
            </a:r>
            <a:endParaRPr lang="en-US" sz="1400" dirty="0"/>
          </a:p>
        </p:txBody>
      </p:sp>
      <p:sp>
        <p:nvSpPr>
          <p:cNvPr id="12" name="Arrow 5"/>
          <p:cNvSpPr/>
          <p:nvPr/>
        </p:nvSpPr>
        <p:spPr>
          <a:xfrm>
            <a:off x="9738360" y="2011680"/>
            <a:ext cx="219456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3" name="Gate box 6"/>
          <p:cNvSpPr/>
          <p:nvPr/>
        </p:nvSpPr>
        <p:spPr>
          <a:xfrm>
            <a:off x="9966960" y="1645920"/>
            <a:ext cx="164592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Measure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788920"/>
            <a:ext cx="5413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Alice prepares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Eve (optional)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83296" y="278892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Bob measures</a:t>
            </a:r>
            <a:endParaRPr lang="en-US" sz="1400" dirty="0"/>
          </a:p>
        </p:txBody>
      </p:sp>
      <p:sp>
        <p:nvSpPr>
          <p:cNvPr id="17" name="Code structure card"/>
          <p:cNvSpPr/>
          <p:nvPr/>
        </p:nvSpPr>
        <p:spPr>
          <a:xfrm>
            <a:off x="548640" y="3383280"/>
            <a:ext cx="676656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14400" y="3657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What the code does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160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qubit is a 1-qubit circuit run on Qiskit Aer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NumPy twin of the circuits runs thousands of repeats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 intercepts a chosen fraction of the qubits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QBER is measured on a random sample of the sifted key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Optional readout-noise model to test for false alarms</a:t>
            </a:r>
            <a:endParaRPr lang="en-US" sz="1500" dirty="0"/>
          </a:p>
        </p:txBody>
      </p:sp>
      <p:sp>
        <p:nvSpPr>
          <p:cNvPr id="20" name="Parameters card"/>
          <p:cNvSpPr/>
          <p:nvPr/>
        </p:nvSpPr>
        <p:spPr>
          <a:xfrm>
            <a:off x="7498080" y="3383280"/>
            <a:ext cx="411480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863840" y="36576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3657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qubits sent per run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44805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11%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9235440" y="4480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QBER abort threshold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53035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50%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of sifted key sampled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What Eve's attack does to the error rate</a:t>
            </a:r>
            <a:endParaRPr lang="en-US" sz="3400" dirty="0"/>
          </a:p>
        </p:txBody>
      </p:sp>
      <p:sp>
        <p:nvSpPr>
          <p:cNvPr id="3" name="Stat card 1"/>
          <p:cNvSpPr/>
          <p:nvPr/>
        </p:nvSpPr>
        <p:spPr>
          <a:xfrm>
            <a:off x="548640" y="1645920"/>
            <a:ext cx="320040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chemeClr val="accent1"/>
                </a:solidFill>
              </a:rPr>
              <a:t>50%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Eve picks the wrong basis</a:t>
            </a:r>
            <a:endParaRPr lang="en-US" sz="1800" dirty="0"/>
          </a:p>
        </p:txBody>
      </p:sp>
      <p:sp>
        <p:nvSpPr>
          <p:cNvPr id="6" name="Stat card 2"/>
          <p:cNvSpPr/>
          <p:nvPr/>
        </p:nvSpPr>
        <p:spPr>
          <a:xfrm>
            <a:off x="4480560" y="1645920"/>
            <a:ext cx="320040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754880" y="20116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chemeClr val="accent1"/>
                </a:solidFill>
              </a:rPr>
              <a:t>50%</a:t>
            </a:r>
            <a:endParaRPr lang="en-US" sz="6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Bob then reads a wrong bit</a:t>
            </a:r>
            <a:endParaRPr lang="en-US" sz="1800" dirty="0"/>
          </a:p>
        </p:txBody>
      </p:sp>
      <p:sp>
        <p:nvSpPr>
          <p:cNvPr id="9" name="Stat card 3"/>
          <p:cNvSpPr/>
          <p:nvPr/>
        </p:nvSpPr>
        <p:spPr>
          <a:xfrm>
            <a:off x="8412480" y="1645920"/>
            <a:ext cx="320040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0" y="20116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chemeClr val="accent5"/>
                </a:solidFill>
              </a:rPr>
              <a:t>25%</a:t>
            </a:r>
            <a:endParaRPr lang="en-US" sz="640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errors in the sifted key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651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6"/>
                </a:solidFill>
              </a:rPr>
              <a:t>x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651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6"/>
                </a:solidFill>
              </a:rPr>
              <a:t>=</a:t>
            </a:r>
            <a:endParaRPr lang="en-US" sz="4000" dirty="0"/>
          </a:p>
        </p:txBody>
      </p:sp>
      <p:sp>
        <p:nvSpPr>
          <p:cNvPr id="14" name="Warning circle"/>
          <p:cNvSpPr/>
          <p:nvPr/>
        </p:nvSpPr>
        <p:spPr>
          <a:xfrm>
            <a:off x="548640" y="48463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Warning icon" descr="W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5052060"/>
            <a:ext cx="411480" cy="411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645920" y="475488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When Eve guesses the right basis she learns the bit and leaves no trace. Over many qubits the errors add up, so comparing a sample exposes her.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Eve's hiding zone</a:t>
            </a:r>
            <a:endParaRPr lang="en-US" sz="3400" dirty="0"/>
          </a:p>
        </p:txBody>
      </p:sp>
      <p:pic>
        <p:nvPicPr>
          <p:cNvPr id="3" name="Hiding zone heatmap" descr="Heatmap of attack detection rate against channel noise and the share of qubits Eve intercep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6766560" cy="4330598"/>
          </a:xfrm>
          <a:prstGeom prst="rect">
            <a:avLst/>
          </a:prstGeom>
        </p:spPr>
      </p:pic>
      <p:sp>
        <p:nvSpPr>
          <p:cNvPr id="4" name="Hiding card 1"/>
          <p:cNvSpPr/>
          <p:nvPr/>
        </p:nvSpPr>
        <p:spPr>
          <a:xfrm>
            <a:off x="7589520" y="155448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818120" y="155448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40%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326880" y="15544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Clean channel: Eve can intercept this share and still be caught in under half the runs</a:t>
            </a:r>
            <a:endParaRPr lang="en-US" sz="1400" dirty="0"/>
          </a:p>
        </p:txBody>
      </p:sp>
      <p:sp>
        <p:nvSpPr>
          <p:cNvPr id="7" name="Hiding card 2"/>
          <p:cNvSpPr/>
          <p:nvPr/>
        </p:nvSpPr>
        <p:spPr>
          <a:xfrm>
            <a:off x="7589520" y="31089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18120" y="31089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20%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9326880" y="31089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At 4-6% noise her unnoticed share shrinks, since noise already uses up the error budget</a:t>
            </a:r>
            <a:endParaRPr lang="en-US" sz="1400" dirty="0"/>
          </a:p>
        </p:txBody>
      </p:sp>
      <p:sp>
        <p:nvSpPr>
          <p:cNvPr id="10" name="Hiding card 3"/>
          <p:cNvSpPr/>
          <p:nvPr/>
        </p:nvSpPr>
        <p:spPr>
          <a:xfrm>
            <a:off x="7589520" y="46634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18120" y="466344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10%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4663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At 7-8% noise she can hide only a little, but honest users are already flagged up to 20% of the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Limitations and future scope</a:t>
            </a:r>
            <a:endParaRPr lang="en-US" sz="3400" dirty="0"/>
          </a:p>
        </p:txBody>
      </p:sp>
      <p:sp>
        <p:nvSpPr>
          <p:cNvPr id="3" name="Column card 1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4" name="Limitations circle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Limitations icon" descr="Limi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65960" y="19202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10896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Simulation only: noise is a simple bit-flip model, not hardware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the intercept-resend attack is tested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error correction or privacy amplification yet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QBER from small samples varies from run to run</a:t>
            </a:r>
            <a:endParaRPr lang="en-US" sz="1600" dirty="0"/>
          </a:p>
        </p:txBody>
      </p:sp>
      <p:sp>
        <p:nvSpPr>
          <p:cNvPr id="8" name="Column card 2"/>
          <p:cNvSpPr/>
          <p:nvPr/>
        </p:nvSpPr>
        <p:spPr>
          <a:xfrm>
            <a:off x="6245352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1B2A5C">
                <a:alpha val="12000"/>
              </a:srgbClr>
            </a:outerShdw>
          </a:effectLst>
        </p:spPr>
      </p:sp>
      <p:sp>
        <p:nvSpPr>
          <p:cNvPr id="9" name="Future scope circle"/>
          <p:cNvSpPr/>
          <p:nvPr/>
        </p:nvSpPr>
        <p:spPr>
          <a:xfrm>
            <a:off x="6611112" y="19202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Future scop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21259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62672" y="19202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Future scope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310896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the protocol on real IBM quantum hardware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Add error correction and privacy amplification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Try other protocols such as E91 and decoy-state BB84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Combine with post-quantum cryptography in a hybrid scheme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bg1"/>
                </a:solidFill>
              </a:rPr>
              <a:t>Conclusion</a:t>
            </a:r>
            <a:endParaRPr lang="en-US" sz="38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1920240"/>
            <a:ext cx="6309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BB84 turns eavesdropping into a measurable error rate</a:t>
            </a:r>
            <a:endParaRPr lang="en-US" sz="1800" dirty="0"/>
          </a:p>
          <a:p>
            <a:pPr marL="342900" indent="-342900" algn="l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 full attacker is caught in 98% of runs with 160 qubits; weaker attackers can slip under a fixed 11% threshold</a:t>
            </a:r>
            <a:endParaRPr lang="en-US" sz="1800" dirty="0"/>
          </a:p>
          <a:p>
            <a:pPr marL="342900" indent="-342900" algn="l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Noise above about 8% causes frequent false alarms, so the exchange needs a quiet channel</a:t>
            </a:r>
            <a:endParaRPr lang="en-US" sz="1800" dirty="0"/>
          </a:p>
          <a:p>
            <a:pPr marL="342900" indent="-342900" algn="l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Next: real hardware, error correction, adaptive thresholds</a:t>
            </a:r>
            <a:endParaRPr lang="en-US" sz="1800" dirty="0"/>
          </a:p>
        </p:txBody>
      </p:sp>
      <p:sp>
        <p:nvSpPr>
          <p:cNvPr id="4" name="GitHub circle"/>
          <p:cNvSpPr/>
          <p:nvPr/>
        </p:nvSpPr>
        <p:spPr>
          <a:xfrm>
            <a:off x="9144000" y="210312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GitHub icon" descr="GitHu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0" y="2400300"/>
            <a:ext cx="594360" cy="594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0" y="3566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github.com/</a:t>
            </a:r>
            <a:r>
              <a:rPr lang="en-US" sz="1800" b="1" dirty="0" err="1">
                <a:solidFill>
                  <a:schemeClr val="bg1"/>
                </a:solidFill>
              </a:rPr>
              <a:t>srishtishewale</a:t>
            </a:r>
            <a:r>
              <a:rPr lang="en-US" sz="1800" b="1" dirty="0">
                <a:solidFill>
                  <a:schemeClr val="bg1"/>
                </a:solidFill>
              </a:rPr>
              <a:t>/bb84-qkd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4297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5"/>
                </a:solidFill>
              </a:rPr>
              <a:t>Thank you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ntum Secure">
  <a:themeElements>
    <a:clrScheme name="Quantum Secure">
      <a:dk1>
        <a:srgbClr val="0F1B33"/>
      </a:dk1>
      <a:lt1>
        <a:srgbClr val="FFFFFF"/>
      </a:lt1>
      <a:dk2>
        <a:srgbClr val="1B2A5C"/>
      </a:dk2>
      <a:lt2>
        <a:srgbClr val="EEF2FA"/>
      </a:lt2>
      <a:accent1>
        <a:srgbClr val="00808A"/>
      </a:accent1>
      <a:accent2>
        <a:srgbClr val="D9480F"/>
      </a:accent2>
      <a:accent3>
        <a:srgbClr val="5B6CFF"/>
      </a:accent3>
      <a:accent4>
        <a:srgbClr val="1E8E5A"/>
      </a:accent4>
      <a:accent5>
        <a:srgbClr val="FFB347"/>
      </a:accent5>
      <a:accent6>
        <a:srgbClr val="6B7699"/>
      </a:accent6>
      <a:hlink>
        <a:srgbClr val="00808A"/>
      </a:hlink>
      <a:folHlink>
        <a:srgbClr val="6B7699"/>
      </a:folHlink>
    </a:clrScheme>
    <a:fontScheme name="Quantum Sec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1172</Words>
  <Application>Microsoft Office PowerPoint</Application>
  <PresentationFormat>Widescreen</PresentationFormat>
  <Paragraphs>180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Quantum Secure</vt:lpstr>
      <vt:lpstr>Detecting Eavesdroppers with BB84 Quantum Key Distribution</vt:lpstr>
      <vt:lpstr>The problem: sharing secrets safely</vt:lpstr>
      <vt:lpstr>Why quantum: measuring changes the state</vt:lpstr>
      <vt:lpstr>How BB84 works</vt:lpstr>
      <vt:lpstr>Example: sifting the key</vt:lpstr>
      <vt:lpstr>Our Qiskit implementation</vt:lpstr>
      <vt:lpstr>What Eve's attack does to the error rate</vt:lpstr>
      <vt:lpstr>Eve's hiding zone</vt:lpstr>
      <vt:lpstr>Limitations and future scope</vt:lpstr>
      <vt:lpstr>Conclusion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Eavesdroppers with BB84 Quantum Key Distribution</dc:title>
  <dc:subject>PptxGenJS Presentation</dc:subject>
  <dc:creator>Qiskit Fall Fest 2026 team</dc:creator>
  <cp:lastModifiedBy>Srishti Shewale</cp:lastModifiedBy>
  <cp:revision>3</cp:revision>
  <dcterms:created xsi:type="dcterms:W3CDTF">2026-10-11T18:32:33Z</dcterms:created>
  <dcterms:modified xsi:type="dcterms:W3CDTF">2026-10-12T18:33:59Z</dcterms:modified>
</cp:coreProperties>
</file>