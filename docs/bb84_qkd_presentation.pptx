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8180ce1-032e-1571-ef49-06cc655edfbf}">
          <p14:sldIdLst>
            <p14:sldId id="256"/>
          </p14:sldIdLst>
        </p14:section>
        <p14:section name="Concept" id="{4c60e735-0d3f-257c-fb89-de0de5a54c7e}">
          <p14:sldIdLst>
            <p14:sldId id="257"/>
            <p14:sldId id="258"/>
            <p14:sldId id="259"/>
            <p14:sldId id="260"/>
          </p14:sldIdLst>
        </p14:section>
        <p14:section name="Build and results" id="{0cf6d3a7-c696-a067-0795-4fb8102d68d2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88147a40-b670-fdd0-fb4e-f0594b708572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5C"/>
                </a:solidFill>
                <a:latin typeface="+mn-lt"/>
              </a:rPr>
              <a:t>QBER vs share of qubits Eve intercepts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QBER (25% x share intercepted)</c:v>
                </c:pt>
              </c:strCache>
            </c:strRef>
          </c:tx>
          <c:spPr>
            <a:solidFill>
              <a:srgbClr val="00808A"/>
            </a:solidFill>
            <a:ln w="38100" cap="flat">
              <a:solidFill>
                <a:srgbClr val="00808A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808A"/>
              </a:solidFill>
              <a:ln w="9525" cap="flat">
                <a:solidFill>
                  <a:srgbClr val="008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  <c:pt idx="5">
                  <c:v>12.5</c:v>
                </c:pt>
                <c:pt idx="6">
                  <c:v>15</c:v>
                </c:pt>
                <c:pt idx="7">
                  <c:v>17.5</c:v>
                </c:pt>
                <c:pt idx="8">
                  <c:v>20</c:v>
                </c:pt>
                <c:pt idx="9">
                  <c:v>22.5</c:v>
                </c:pt>
                <c:pt idx="10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Abort threshold (11%)</c:v>
                </c:pt>
              </c:strCache>
            </c:strRef>
          </c:tx>
          <c:spPr>
            <a:solidFill>
              <a:srgbClr val="D9480F"/>
            </a:solidFill>
            <a:ln w="38100" cap="flat">
              <a:solidFill>
                <a:srgbClr val="D9480F"/>
              </a:solidFill>
              <a:prstDash val="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480F"/>
              </a:solidFill>
              <a:ln w="9525" cap="flat">
                <a:solidFill>
                  <a:srgbClr val="D948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  <c:pt idx="9">
                  <c:v>11</c:v>
                </c:pt>
                <c:pt idx="10">
                  <c:v>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699"/>
                    </a:solidFill>
                    <a:latin typeface="+mn-lt"/>
                  </a:rPr>
                  <a:t>Qubits intercepted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D5DB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699"/>
                    </a:solidFill>
                    <a:latin typeface="+mn-lt"/>
                  </a:rPr>
                  <a:t>QBER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5C"/>
                </a:solidFill>
                <a:latin typeface="+mn-lt"/>
              </a:rPr>
              <a:t>QBER vs channel noise (200 qubits, 500 runs per point)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Eve</c:v>
                </c:pt>
              </c:strCache>
            </c:strRef>
          </c:tx>
          <c:spPr>
            <a:solidFill>
              <a:srgbClr val="00808A"/>
            </a:solidFill>
            <a:ln w="38100" cap="flat">
              <a:solidFill>
                <a:srgbClr val="00808A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808A"/>
              </a:solidFill>
              <a:ln w="9525" cap="flat">
                <a:solidFill>
                  <a:srgbClr val="008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1.9</c:v>
                </c:pt>
                <c:pt idx="2">
                  <c:v>3.9</c:v>
                </c:pt>
                <c:pt idx="3">
                  <c:v>5.9</c:v>
                </c:pt>
                <c:pt idx="4">
                  <c:v>7.9</c:v>
                </c:pt>
                <c:pt idx="5">
                  <c:v>10.1</c:v>
                </c:pt>
                <c:pt idx="6">
                  <c:v>12</c:v>
                </c:pt>
                <c:pt idx="7">
                  <c:v>13.9</c:v>
                </c:pt>
                <c:pt idx="8">
                  <c:v>15.8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 on every qubit</c:v>
                </c:pt>
              </c:strCache>
            </c:strRef>
          </c:tx>
          <c:spPr>
            <a:solidFill>
              <a:srgbClr val="D9480F"/>
            </a:solidFill>
            <a:ln w="38100" cap="flat">
              <a:solidFill>
                <a:srgbClr val="D9480F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480F"/>
              </a:solidFill>
              <a:ln w="9525" cap="flat">
                <a:solidFill>
                  <a:srgbClr val="D948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25.1</c:v>
                </c:pt>
                <c:pt idx="1">
                  <c:v>27.5</c:v>
                </c:pt>
                <c:pt idx="2">
                  <c:v>29.4</c:v>
                </c:pt>
                <c:pt idx="3">
                  <c:v>30.2</c:v>
                </c:pt>
                <c:pt idx="4">
                  <c:v>32.5</c:v>
                </c:pt>
                <c:pt idx="5">
                  <c:v>34.4</c:v>
                </c:pt>
                <c:pt idx="6">
                  <c:v>35.9</c:v>
                </c:pt>
                <c:pt idx="7">
                  <c:v>37.2</c:v>
                </c:pt>
                <c:pt idx="8">
                  <c:v>38.3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Abort threshold (11%)</c:v>
                </c:pt>
              </c:strCache>
            </c:strRef>
          </c:tx>
          <c:spPr>
            <a:solidFill>
              <a:srgbClr val="6B7699"/>
            </a:solidFill>
            <a:ln w="38100" cap="flat">
              <a:solidFill>
                <a:srgbClr val="6B7699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B7699"/>
              </a:solidFill>
              <a:ln w="9525" cap="flat">
                <a:solidFill>
                  <a:srgbClr val="6B76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699"/>
                    </a:solidFill>
                    <a:latin typeface="+mn-lt"/>
                  </a:rPr>
                  <a:t>Channel noise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D5DB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699"/>
                    </a:solidFill>
                    <a:latin typeface="+mn-lt"/>
                  </a:rPr>
                  <a:t>QBER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5C"/>
                </a:solidFill>
                <a:latin typeface="+mn-lt"/>
              </a:rPr>
              <a:t>Attack detected (% of 500 runs) vs qubits sent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 intercepts 20%</c:v>
                </c:pt>
              </c:strCache>
            </c:strRef>
          </c:tx>
          <c:spPr>
            <a:solidFill>
              <a:srgbClr val="00808A"/>
            </a:solidFill>
            <a:ln w="38100" cap="flat">
              <a:solidFill>
                <a:srgbClr val="00808A"/>
              </a:solidFill>
              <a:prstDash val="solid,solid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808A"/>
              </a:solidFill>
              <a:ln w="9525" cap="flat">
                <a:solidFill>
                  <a:srgbClr val="008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</c:v>
                  </c:pt>
                  <c:pt idx="1">
                    <c:v>40</c:v>
                  </c:pt>
                  <c:pt idx="2">
                    <c:v>80</c:v>
                  </c:pt>
                  <c:pt idx="3">
                    <c:v>160</c:v>
                  </c:pt>
                  <c:pt idx="4">
                    <c:v>320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22</c:v>
                </c:pt>
                <c:pt idx="2">
                  <c:v>13</c:v>
                </c:pt>
                <c:pt idx="3">
                  <c:v>6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 intercepts 50%</c:v>
                </c:pt>
              </c:strCache>
            </c:strRef>
          </c:tx>
          <c:spPr>
            <a:solidFill>
              <a:srgbClr val="5B6CFF"/>
            </a:solidFill>
            <a:ln w="38100" cap="flat">
              <a:solidFill>
                <a:srgbClr val="5B6CFF"/>
              </a:solidFill>
              <a:prstDash val="solid,solid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6CFF"/>
              </a:solidFill>
              <a:ln w="9525" cap="flat">
                <a:solidFill>
                  <a:srgbClr val="5B6C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</c:v>
                  </c:pt>
                  <c:pt idx="1">
                    <c:v>40</c:v>
                  </c:pt>
                  <c:pt idx="2">
                    <c:v>80</c:v>
                  </c:pt>
                  <c:pt idx="3">
                    <c:v>160</c:v>
                  </c:pt>
                  <c:pt idx="4">
                    <c:v>320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53</c:v>
                </c:pt>
                <c:pt idx="2">
                  <c:v>53</c:v>
                </c:pt>
                <c:pt idx="3">
                  <c:v>55</c:v>
                </c:pt>
                <c:pt idx="4">
                  <c:v>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 intercepts 100%</c:v>
                </c:pt>
              </c:strCache>
            </c:strRef>
          </c:tx>
          <c:spPr>
            <a:solidFill>
              <a:srgbClr val="D9480F"/>
            </a:solidFill>
            <a:ln w="38100" cap="flat">
              <a:solidFill>
                <a:srgbClr val="D9480F"/>
              </a:solidFill>
              <a:prstDash val="solid,solid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480F"/>
              </a:solidFill>
              <a:ln w="9525" cap="flat">
                <a:solidFill>
                  <a:srgbClr val="D948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</c:v>
                  </c:pt>
                  <c:pt idx="1">
                    <c:v>40</c:v>
                  </c:pt>
                  <c:pt idx="2">
                    <c:v>80</c:v>
                  </c:pt>
                  <c:pt idx="3">
                    <c:v>160</c:v>
                  </c:pt>
                  <c:pt idx="4">
                    <c:v>320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71</c:v>
                </c:pt>
                <c:pt idx="1">
                  <c:v>86</c:v>
                </c:pt>
                <c:pt idx="2">
                  <c:v>92</c:v>
                </c:pt>
                <c:pt idx="3">
                  <c:v>98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699"/>
                    </a:solidFill>
                    <a:latin typeface="+mn-lt"/>
                  </a:rPr>
                  <a:t>Qubits sent by Alice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5DB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6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B7699"/>
                    </a:solidFill>
                    <a:latin typeface="+mn-lt"/>
                  </a:rPr>
                  <a:t>Detected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F1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track: Quantum Secure Communication. One line: we simulate a quantum key exchange and show that an eavesdropper can be 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problem. Key exchange today depends on hard maths, and a classical eavesdropper leaves no trace. The question on the bottom bar is what BB84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physical facts make this work: wrong-basis measurements are random, measuring disturbs the state, and states cannot be cloned. Eve cannot know the basis in advance, so she disturbs some qubits.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left to right. Only the bases are announced publicly, never the bits. Z and X are two different ways of measuring the same qubit.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Highlighted columns are the positions where Alice's and Bob's bases matched. Only those bits go into the key. Without Eve, Bob's bit equals Alice's bit in every matched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qubit is one tiny circuit: prepare, optionally pass through Eve, then Bob measures. The pipeline across the top is that circuit. Mention the GitHub repo contains the full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calculation. Half the time Eve guesses the wrong basis. When she does, her resent qubit gives Bob a random bit, which is wrong half the time. 0.5 x 0.5 = 25%.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shows the expected relationship from theory. Replace or overlay it with your own qber_vs_eve.png from the Qiskit run, and update the three values on the right with the numbers you actually measured. Small samples make the simulated points wobble around the line;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 and an attacker both raise the error rate. A full attacker keeps the QBER far above the threshold at every noise level, so she is always caught. The real problem is the other direction: once noise passes about 8%, honest users start aborting because their own errors look like an attack. Numbers come from 500 repeated runs per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qubits make the error estimate more accurate, so a full attacker is caught reliably by about 160 qubits. Partial attackers are a different story: with a fixed 11 percent threshold, an attacker who intercepts only 20 percent produces about 5 percent errors and slips through. This motivates privacy amplification and adaptive thresholds in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cell is 200 simulated runs. Green means the attack usually goes unnoticed, red means it is detected. The boundary moves down as noise rises: noise eats into the error budget. The zone is bounded on both sides: on a noisy channel honest users get false alarms, on a clean one a small attacker can still stay below the threshold. Hiding here means detected in under half the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limits: this is a simulation of one attack. Then show where it goes next: hardware, error correction, other protocols, and hybrid post-quantum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takeaways, then the GitHub link. Replace the placeholder with your real repository URL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188720"/>
            <a:ext cx="75895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566160"/>
            <a:ext cx="75895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Qiskit Fall Fest 2026 @ MPSTME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Title</a:t>
            </a: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920240"/>
            <a:ext cx="630936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Body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18872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Detecting Eavesdroppers with BB84 Quantum Key Distribution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Qiskit simulation of quantum-secure key exchange: can we tell Eve from noise?</a:t>
            </a:r>
            <a:endParaRPr lang="en-US" sz="2000" dirty="0"/>
          </a:p>
        </p:txBody>
      </p:sp>
      <p:sp>
        <p:nvSpPr>
          <p:cNvPr id="4" name="Orbit ring 1"/>
          <p:cNvSpPr/>
          <p:nvPr/>
        </p:nvSpPr>
        <p:spPr>
          <a:xfrm>
            <a:off x="8503920" y="1783080"/>
            <a:ext cx="3291840" cy="329184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5" name="Orbit ring 2"/>
          <p:cNvSpPr/>
          <p:nvPr/>
        </p:nvSpPr>
        <p:spPr>
          <a:xfrm>
            <a:off x="8961120" y="2240280"/>
            <a:ext cx="2377440" cy="237744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6" name="Orbit ring 3"/>
          <p:cNvSpPr/>
          <p:nvPr/>
        </p:nvSpPr>
        <p:spPr>
          <a:xfrm>
            <a:off x="9418320" y="2697480"/>
            <a:ext cx="1463040" cy="1463040"/>
          </a:xfrm>
          <a:prstGeom prst="ellipse">
            <a:avLst/>
          </a:prstGeom>
          <a:ln w="19050">
            <a:solidFill>
              <a:schemeClr val="accent6"/>
            </a:solidFill>
            <a:prstDash val="solid"/>
          </a:ln>
        </p:spPr>
      </p:sp>
      <p:sp>
        <p:nvSpPr>
          <p:cNvPr id="7" name="Atom circle"/>
          <p:cNvSpPr/>
          <p:nvPr/>
        </p:nvSpPr>
        <p:spPr>
          <a:xfrm>
            <a:off x="9646920" y="29260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tom icon" descr="At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0" y="31775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4754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[Team name]  |  [Member names]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303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Qiskit Fall Fest 2026 @ MPSTME  |  Hybrid Quantum Hackathon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problem: sharing secrets safely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554480"/>
            <a:ext cx="53949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4" name="Maths-based key exchange circle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aths-based key exchange icon" descr="Maths-based key exch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Maths-based key exchange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17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Today's key exchange relies on problems that are hard for classical computers. A large quantum computer could solve them using Shor's algorithm.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6245352" y="1554480"/>
            <a:ext cx="53949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9" name="Eavesdropping is invisible circle"/>
          <p:cNvSpPr/>
          <p:nvPr/>
        </p:nvSpPr>
        <p:spPr>
          <a:xfrm>
            <a:off x="6611112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Eavesdropping is invisible icon" descr="Eavesdropping is invisi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1259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62672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Eavesdropping is invisible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611112" y="3017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 a classical channel, someone can copy the traffic without leaving a trace. Data recorded today could be decrypted later.</a:t>
            </a:r>
            <a:endParaRPr lang="en-US" sz="1600" dirty="0"/>
          </a:p>
        </p:txBody>
      </p:sp>
      <p:sp>
        <p:nvSpPr>
          <p:cNvPr id="13" name="Question bar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Can two parties share a secret key and be able to tell if someone listened?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Why quantum: measuring changes the state</a:t>
            </a:r>
            <a:endParaRPr lang="en-US" sz="3400" dirty="0"/>
          </a:p>
        </p:txBody>
      </p:sp>
      <p:sp>
        <p:nvSpPr>
          <p:cNvPr id="3" name="Superposition and bases circle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uperposition and bases icon" descr="Superposition and ba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888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Superposition and bases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0574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qubit prepared in the X basis has no definite Z value. Measuring in the wrong basis gives a random result.</a:t>
            </a:r>
            <a:endParaRPr lang="en-US" sz="1500" dirty="0"/>
          </a:p>
        </p:txBody>
      </p:sp>
      <p:sp>
        <p:nvSpPr>
          <p:cNvPr id="7" name="Measurement disturbs the state circle"/>
          <p:cNvSpPr/>
          <p:nvPr/>
        </p:nvSpPr>
        <p:spPr>
          <a:xfrm>
            <a:off x="548640" y="33375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Measurement disturbs the state icon" descr="Measurement disturbs the st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5433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3108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Measurement disturbs the state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6118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Measuring collapses the qubit. After a wrong-basis measurement the original information is lost.</a:t>
            </a:r>
            <a:endParaRPr lang="en-US" sz="1500" dirty="0"/>
          </a:p>
        </p:txBody>
      </p:sp>
      <p:sp>
        <p:nvSpPr>
          <p:cNvPr id="11" name="No-cloning theorem circle"/>
          <p:cNvSpPr/>
          <p:nvPr/>
        </p:nvSpPr>
        <p:spPr>
          <a:xfrm>
            <a:off x="548640" y="48920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No-cloning theorem icon" descr="No-cloning theor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50977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663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No-cloning theorem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51663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unknown quantum state cannot be copied perfectly, so Eve cannot keep a copy and forward the original.</a:t>
            </a:r>
            <a:endParaRPr lang="en-US" sz="1500" dirty="0"/>
          </a:p>
        </p:txBody>
      </p:sp>
      <p:sp>
        <p:nvSpPr>
          <p:cNvPr id="15" name="Measurement outcome panel"/>
          <p:cNvSpPr/>
          <p:nvPr/>
        </p:nvSpPr>
        <p:spPr>
          <a:xfrm>
            <a:off x="7680960" y="1554480"/>
            <a:ext cx="3931920" cy="448056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Bob's measurement outcome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100%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Same basis: the correct bit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50%</a:t>
            </a:r>
            <a:endParaRPr lang="en-US" sz="4800" dirty="0"/>
          </a:p>
        </p:txBody>
      </p:sp>
      <p:sp>
        <p:nvSpPr>
          <p:cNvPr id="20" name="Text 15"/>
          <p:cNvSpPr txBox="1"/>
          <p:nvPr/>
        </p:nvSpPr>
        <p:spPr>
          <a:xfrm>
            <a:off x="804672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Different basis: a random result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BB84 works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4" name="Step number 1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Alice picks random bits and random bases (Z or X) and encodes each bit in a qubit.</a:t>
            </a:r>
            <a:endParaRPr lang="en-US" sz="1400" dirty="0"/>
          </a:p>
        </p:txBody>
      </p:sp>
      <p:sp>
        <p:nvSpPr>
          <p:cNvPr id="7" name="Step card 2"/>
          <p:cNvSpPr/>
          <p:nvPr/>
        </p:nvSpPr>
        <p:spPr>
          <a:xfrm>
            <a:off x="2788920" y="164592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8" name="Step number 2"/>
          <p:cNvSpPr/>
          <p:nvPr/>
        </p:nvSpPr>
        <p:spPr>
          <a:xfrm>
            <a:off x="306324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Transmit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2461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qubits travel to Bob. Eve may intercept and resend them.</a:t>
            </a:r>
            <a:endParaRPr lang="en-US" sz="1400" dirty="0"/>
          </a:p>
        </p:txBody>
      </p:sp>
      <p:sp>
        <p:nvSpPr>
          <p:cNvPr id="11" name="Step card 3"/>
          <p:cNvSpPr/>
          <p:nvPr/>
        </p:nvSpPr>
        <p:spPr>
          <a:xfrm>
            <a:off x="5029200" y="164592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2" name="Step number 3"/>
          <p:cNvSpPr/>
          <p:nvPr/>
        </p:nvSpPr>
        <p:spPr>
          <a:xfrm>
            <a:off x="530352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Measure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2461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Bob measures every qubit in his own random basis.</a:t>
            </a:r>
            <a:endParaRPr lang="en-US" sz="1400" dirty="0"/>
          </a:p>
        </p:txBody>
      </p:sp>
      <p:sp>
        <p:nvSpPr>
          <p:cNvPr id="15" name="Step card 4"/>
          <p:cNvSpPr/>
          <p:nvPr/>
        </p:nvSpPr>
        <p:spPr>
          <a:xfrm>
            <a:off x="7269480" y="164592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6" name="Step number 4"/>
          <p:cNvSpPr/>
          <p:nvPr/>
        </p:nvSpPr>
        <p:spPr>
          <a:xfrm>
            <a:off x="754380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Sift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2461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Alice and Bob publicly compare bases and keep the positions where they matched.</a:t>
            </a:r>
            <a:endParaRPr lang="en-US" sz="1400" dirty="0"/>
          </a:p>
        </p:txBody>
      </p:sp>
      <p:sp>
        <p:nvSpPr>
          <p:cNvPr id="19" name="Step card 5"/>
          <p:cNvSpPr/>
          <p:nvPr/>
        </p:nvSpPr>
        <p:spPr>
          <a:xfrm>
            <a:off x="9509760" y="1645920"/>
            <a:ext cx="2057400" cy="32918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20" name="Step number 5"/>
          <p:cNvSpPr/>
          <p:nvPr/>
        </p:nvSpPr>
        <p:spPr>
          <a:xfrm>
            <a:off x="978408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Check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324612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compare a sample of the key. A high error rate means interception.</a:t>
            </a:r>
            <a:endParaRPr lang="en-US" sz="1400" dirty="0"/>
          </a:p>
        </p:txBody>
      </p:sp>
      <p:sp>
        <p:nvSpPr>
          <p:cNvPr id="23" name="Basis legend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Z basis: |0&gt;, |1&gt;      X basis: |+&gt;, |-&gt;      Wrong basis gives a random result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Example: sifting the key</a:t>
            </a:r>
            <a:endParaRPr lang="en-US" sz="3400" dirty="0"/>
          </a:p>
        </p:txBody>
      </p:sp>
      <p:graphicFrame>
        <p:nvGraphicFramePr>
          <p:cNvPr id="6" name="Sif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Qubit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5C"/>
                          </a:solidFill>
                        </a:rPr>
                        <a:t>Alice's bit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5C"/>
                          </a:solidFill>
                        </a:rPr>
                        <a:t>Alice's basis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5C"/>
                          </a:solidFill>
                        </a:rPr>
                        <a:t>Bob's basis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Z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5C"/>
                          </a:solidFill>
                        </a:rPr>
                        <a:t>Bases match?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Yes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2A5C"/>
                          </a:solidFill>
                        </a:rPr>
                        <a:t>Key bit kept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F1B33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F1B33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F1"/>
                    </a:solidFill>
                  </a:tcPr>
                </a:tc>
              </a:tr>
            </a:tbl>
          </a:graphicData>
        </a:graphic>
      </p:graphicFrame>
      <p:sp>
        <p:nvSpPr>
          <p:cNvPr id="4" name="Sifted key bar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8-qubit illustration, no Eve: sifted key = 1 1 0 0 0. On average, half the qubits are kept.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Our Qiskit implementation</a:t>
            </a:r>
            <a:endParaRPr lang="en-US" sz="3400" dirty="0"/>
          </a:p>
        </p:txBody>
      </p:sp>
      <p:sp>
        <p:nvSpPr>
          <p:cNvPr id="3" name="Gate box 1"/>
          <p:cNvSpPr/>
          <p:nvPr/>
        </p:nvSpPr>
        <p:spPr>
          <a:xfrm>
            <a:off x="548640" y="164592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 in |0&gt;</a:t>
            </a:r>
            <a:endParaRPr lang="en-US" sz="1400" dirty="0"/>
          </a:p>
        </p:txBody>
      </p:sp>
      <p:sp>
        <p:nvSpPr>
          <p:cNvPr id="4" name="Arrow 1"/>
          <p:cNvSpPr/>
          <p:nvPr/>
        </p:nvSpPr>
        <p:spPr>
          <a:xfrm>
            <a:off x="2203704" y="20116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5" name="Gate box 2"/>
          <p:cNvSpPr/>
          <p:nvPr/>
        </p:nvSpPr>
        <p:spPr>
          <a:xfrm>
            <a:off x="2432304" y="164592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X gate if bit = 1</a:t>
            </a:r>
            <a:endParaRPr lang="en-US" sz="1400" dirty="0"/>
          </a:p>
        </p:txBody>
      </p:sp>
      <p:sp>
        <p:nvSpPr>
          <p:cNvPr id="6" name="Arrow 2"/>
          <p:cNvSpPr/>
          <p:nvPr/>
        </p:nvSpPr>
        <p:spPr>
          <a:xfrm>
            <a:off x="4087368" y="20116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7" name="Gate box 3"/>
          <p:cNvSpPr/>
          <p:nvPr/>
        </p:nvSpPr>
        <p:spPr>
          <a:xfrm>
            <a:off x="4315968" y="164592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 gate if basis = X</a:t>
            </a:r>
            <a:endParaRPr lang="en-US" sz="1400" dirty="0"/>
          </a:p>
        </p:txBody>
      </p:sp>
      <p:sp>
        <p:nvSpPr>
          <p:cNvPr id="8" name="Arrow 3"/>
          <p:cNvSpPr/>
          <p:nvPr/>
        </p:nvSpPr>
        <p:spPr>
          <a:xfrm>
            <a:off x="5971032" y="20116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Gate box 4"/>
          <p:cNvSpPr/>
          <p:nvPr/>
        </p:nvSpPr>
        <p:spPr>
          <a:xfrm>
            <a:off x="6199632" y="164592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Eve measures and resends</a:t>
            </a:r>
            <a:endParaRPr lang="en-US" sz="1400" dirty="0"/>
          </a:p>
        </p:txBody>
      </p:sp>
      <p:sp>
        <p:nvSpPr>
          <p:cNvPr id="10" name="Arrow 4"/>
          <p:cNvSpPr/>
          <p:nvPr/>
        </p:nvSpPr>
        <p:spPr>
          <a:xfrm>
            <a:off x="7854696" y="20116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Gate box 5"/>
          <p:cNvSpPr/>
          <p:nvPr/>
        </p:nvSpPr>
        <p:spPr>
          <a:xfrm>
            <a:off x="8083296" y="164592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 gate if Bob's basis = X</a:t>
            </a:r>
            <a:endParaRPr lang="en-US" sz="1400" dirty="0"/>
          </a:p>
        </p:txBody>
      </p:sp>
      <p:sp>
        <p:nvSpPr>
          <p:cNvPr id="12" name="Arrow 5"/>
          <p:cNvSpPr/>
          <p:nvPr/>
        </p:nvSpPr>
        <p:spPr>
          <a:xfrm>
            <a:off x="9738360" y="2011680"/>
            <a:ext cx="219456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Gate box 6"/>
          <p:cNvSpPr/>
          <p:nvPr/>
        </p:nvSpPr>
        <p:spPr>
          <a:xfrm>
            <a:off x="9966960" y="1645920"/>
            <a:ext cx="16459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Measure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88920"/>
            <a:ext cx="5413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Alice prepares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Eve (optional)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83296" y="278892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Bob measures</a:t>
            </a:r>
            <a:endParaRPr lang="en-US" sz="1400" dirty="0"/>
          </a:p>
        </p:txBody>
      </p:sp>
      <p:sp>
        <p:nvSpPr>
          <p:cNvPr id="17" name="Code structure card"/>
          <p:cNvSpPr/>
          <p:nvPr/>
        </p:nvSpPr>
        <p:spPr>
          <a:xfrm>
            <a:off x="548640" y="3383280"/>
            <a:ext cx="67665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3657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the code does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1605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qubit is a 1-qubit circuit run on Qiskit Aer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NumPy twin of the circuits runs thousands of repeats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 intercepts a chosen fraction of the qubits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QBER is measured on a random sample of the sifted 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Optional readout-noise model to test for false alarms</a:t>
            </a:r>
            <a:endParaRPr lang="en-US" sz="1500" dirty="0"/>
          </a:p>
        </p:txBody>
      </p:sp>
      <p:sp>
        <p:nvSpPr>
          <p:cNvPr id="20" name="Parameters card"/>
          <p:cNvSpPr/>
          <p:nvPr/>
        </p:nvSpPr>
        <p:spPr>
          <a:xfrm>
            <a:off x="7498080" y="3383280"/>
            <a:ext cx="41148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863840" y="3657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200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657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qubits sent per run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480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11%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4480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QBER abort threshold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5303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sifted key sampled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Eve's attack does to the error rate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645920"/>
            <a:ext cx="32004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50%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 picks the wrong basis</a:t>
            </a:r>
            <a:endParaRPr lang="en-US" sz="1800" dirty="0"/>
          </a:p>
        </p:txBody>
      </p:sp>
      <p:sp>
        <p:nvSpPr>
          <p:cNvPr id="6" name="Stat card 2"/>
          <p:cNvSpPr/>
          <p:nvPr/>
        </p:nvSpPr>
        <p:spPr>
          <a:xfrm>
            <a:off x="4480560" y="1645920"/>
            <a:ext cx="32004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54880" y="2011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50%</a:t>
            </a:r>
            <a:endParaRPr lang="en-US" sz="6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Bob then reads a wrong bit</a:t>
            </a:r>
            <a:endParaRPr lang="en-US" sz="1800" dirty="0"/>
          </a:p>
        </p:txBody>
      </p:sp>
      <p:sp>
        <p:nvSpPr>
          <p:cNvPr id="9" name="Stat card 3"/>
          <p:cNvSpPr/>
          <p:nvPr/>
        </p:nvSpPr>
        <p:spPr>
          <a:xfrm>
            <a:off x="8412480" y="1645920"/>
            <a:ext cx="3200400" cy="27432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0" y="2011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25%</a:t>
            </a:r>
            <a:endParaRPr lang="en-US" sz="6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errors in the sifted key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x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=</a:t>
            </a:r>
            <a:endParaRPr lang="en-US" sz="4000" dirty="0"/>
          </a:p>
        </p:txBody>
      </p:sp>
      <p:sp>
        <p:nvSpPr>
          <p:cNvPr id="14" name="Warning circle"/>
          <p:cNvSpPr/>
          <p:nvPr/>
        </p:nvSpPr>
        <p:spPr>
          <a:xfrm>
            <a:off x="548640" y="48463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Warning icon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505206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645920" y="47548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When Eve guesses the right basis she learns the bit and leaves no trace. Over many qubits the errors add up, so comparing a sample exposes her.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Results: interception shows up as errors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 card 1"/>
          <p:cNvSpPr/>
          <p:nvPr/>
        </p:nvSpPr>
        <p:spPr>
          <a:xfrm>
            <a:off x="7406640" y="155448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635240" y="1554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~0%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554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Eve: keys match and the key is kept</a:t>
            </a:r>
            <a:endParaRPr lang="en-US" sz="1400" dirty="0"/>
          </a:p>
        </p:txBody>
      </p:sp>
      <p:sp>
        <p:nvSpPr>
          <p:cNvPr id="7" name="Result card 2"/>
          <p:cNvSpPr/>
          <p:nvPr/>
        </p:nvSpPr>
        <p:spPr>
          <a:xfrm>
            <a:off x="7406640" y="310896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35240" y="31089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~25%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 on every qubit: above the 11% threshold, so she is detected</a:t>
            </a:r>
            <a:endParaRPr lang="en-US" sz="1400" dirty="0"/>
          </a:p>
        </p:txBody>
      </p:sp>
      <p:sp>
        <p:nvSpPr>
          <p:cNvPr id="10" name="Result card 3"/>
          <p:cNvSpPr/>
          <p:nvPr/>
        </p:nvSpPr>
        <p:spPr>
          <a:xfrm>
            <a:off x="7406640" y="466344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3524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~3%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4663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Eve, 3% noise: below the threshold, so no false alarm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Can we tell Eve apart from noise?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ise card 1"/>
          <p:cNvSpPr/>
          <p:nvPr/>
        </p:nvSpPr>
        <p:spPr>
          <a:xfrm>
            <a:off x="7406640" y="155448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635240" y="1554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4%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554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Noise up to 4%: honest users see only about 1% false alarms</a:t>
            </a:r>
            <a:endParaRPr lang="en-US" sz="1400" dirty="0"/>
          </a:p>
        </p:txBody>
      </p:sp>
      <p:sp>
        <p:nvSpPr>
          <p:cNvPr id="7" name="Noise card 2"/>
          <p:cNvSpPr/>
          <p:nvPr/>
        </p:nvSpPr>
        <p:spPr>
          <a:xfrm>
            <a:off x="7406640" y="310896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35240" y="31089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8%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8% noise, 20% of honest runs are wrongly flagged as attacks</a:t>
            </a:r>
            <a:endParaRPr lang="en-US" sz="1400" dirty="0"/>
          </a:p>
        </p:txBody>
      </p:sp>
      <p:sp>
        <p:nvSpPr>
          <p:cNvPr id="10" name="Noise card 3"/>
          <p:cNvSpPr/>
          <p:nvPr/>
        </p:nvSpPr>
        <p:spPr>
          <a:xfrm>
            <a:off x="7406640" y="466344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3524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10%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4663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10% noise, 41% false alarms: the exchange becomes unreliable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many qubits are enough?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Qubits card 1"/>
          <p:cNvSpPr/>
          <p:nvPr/>
        </p:nvSpPr>
        <p:spPr>
          <a:xfrm>
            <a:off x="7406640" y="155448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635240" y="1554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98%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554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attack caught with 160 qubits (100% with 320)</a:t>
            </a:r>
            <a:endParaRPr lang="en-US" sz="1400" dirty="0"/>
          </a:p>
        </p:txBody>
      </p:sp>
      <p:sp>
        <p:nvSpPr>
          <p:cNvPr id="7" name="Qubits card 2"/>
          <p:cNvSpPr/>
          <p:nvPr/>
        </p:nvSpPr>
        <p:spPr>
          <a:xfrm>
            <a:off x="7406640" y="310896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635240" y="31089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67%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3108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50% attacker is caught only this often, even with 320 qubits</a:t>
            </a:r>
            <a:endParaRPr lang="en-US" sz="1400" dirty="0"/>
          </a:p>
        </p:txBody>
      </p:sp>
      <p:sp>
        <p:nvSpPr>
          <p:cNvPr id="10" name="Qubits card 3"/>
          <p:cNvSpPr/>
          <p:nvPr/>
        </p:nvSpPr>
        <p:spPr>
          <a:xfrm>
            <a:off x="7406640" y="466344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3524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4663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20% attacker is almost never caught: her QBER (about 5%) stays under 11%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Eve's hiding zone</a:t>
            </a:r>
            <a:endParaRPr lang="en-US" sz="3400" dirty="0"/>
          </a:p>
        </p:txBody>
      </p:sp>
      <p:pic>
        <p:nvPicPr>
          <p:cNvPr id="3" name="Hiding zone heatmap" descr="Heatmap of attack detection rate against channel noise and the share of qubits Eve intercep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4330598"/>
          </a:xfrm>
          <a:prstGeom prst="rect">
            <a:avLst/>
          </a:prstGeom>
        </p:spPr>
      </p:pic>
      <p:sp>
        <p:nvSpPr>
          <p:cNvPr id="4" name="Hiding card 1"/>
          <p:cNvSpPr/>
          <p:nvPr/>
        </p:nvSpPr>
        <p:spPr>
          <a:xfrm>
            <a:off x="758952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818120" y="15544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40%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15544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channel: Eve can intercept this share and still be caught in under half the runs</a:t>
            </a:r>
            <a:endParaRPr lang="en-US" sz="1400" dirty="0"/>
          </a:p>
        </p:txBody>
      </p:sp>
      <p:sp>
        <p:nvSpPr>
          <p:cNvPr id="7" name="Hiding card 2"/>
          <p:cNvSpPr/>
          <p:nvPr/>
        </p:nvSpPr>
        <p:spPr>
          <a:xfrm>
            <a:off x="7589520" y="31089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818120" y="31089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326880" y="31089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4-6% noise her unnoticed share shrinks, since noise already uses up the error budget</a:t>
            </a:r>
            <a:endParaRPr lang="en-US" sz="1400" dirty="0"/>
          </a:p>
        </p:txBody>
      </p:sp>
      <p:sp>
        <p:nvSpPr>
          <p:cNvPr id="10" name="Hiding card 3"/>
          <p:cNvSpPr/>
          <p:nvPr/>
        </p:nvSpPr>
        <p:spPr>
          <a:xfrm>
            <a:off x="7589520" y="46634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81812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10%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4663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7-8% noise she can hide only a little, but honest users are already flagged up to 20% of the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future scope</a:t>
            </a:r>
            <a:endParaRPr lang="en-US" sz="34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4" name="Limitations circle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Limitations icon" descr="Limit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1089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Simulation only: noise is a simple bit-flip model, not hardware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the intercept-resend attack is tested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error correction or privacy amplification yet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QBER from small samples varies from run to run</a:t>
            </a:r>
            <a:endParaRPr lang="en-US" sz="1600" dirty="0"/>
          </a:p>
        </p:txBody>
      </p:sp>
      <p:sp>
        <p:nvSpPr>
          <p:cNvPr id="8" name="Column card 2"/>
          <p:cNvSpPr/>
          <p:nvPr/>
        </p:nvSpPr>
        <p:spPr>
          <a:xfrm>
            <a:off x="6245352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A5C">
                <a:alpha val="12000"/>
              </a:srgbClr>
            </a:outerShdw>
          </a:effectLst>
        </p:spPr>
      </p:sp>
      <p:sp>
        <p:nvSpPr>
          <p:cNvPr id="9" name="Future scope circle"/>
          <p:cNvSpPr/>
          <p:nvPr/>
        </p:nvSpPr>
        <p:spPr>
          <a:xfrm>
            <a:off x="6611112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Future 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52" y="21259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62672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611112" y="31089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the protocol on real IBM quantum hardware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error correction and privacy amplification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Try other protocols such as E91 and decoy-state BB84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Combine with post-quantum cryptography in a hybrid scheme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192024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BB84 turns eavesdropping into a measurable error rate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 full attacker is caught in 98% of runs with 160 qubits; weaker attackers can slip under a fixed 11% threshold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Noise above about 8% causes frequent false alarms, so the exchange needs a quiet channel</a:t>
            </a:r>
            <a:endParaRPr lang="en-US" sz="18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Next: real hardware, error correction, adaptive thresholds</a:t>
            </a:r>
            <a:endParaRPr lang="en-US" sz="1800" dirty="0"/>
          </a:p>
        </p:txBody>
      </p:sp>
      <p:sp>
        <p:nvSpPr>
          <p:cNvPr id="4" name="GitHub circle"/>
          <p:cNvSpPr/>
          <p:nvPr/>
        </p:nvSpPr>
        <p:spPr>
          <a:xfrm>
            <a:off x="9144000" y="210312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GitHub icon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0" y="24003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3566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github.com/[your-username]/bb84-qkd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 Secure">
  <a:themeElements>
    <a:clrScheme name="Quantum Secure">
      <a:dk1>
        <a:srgbClr val="0F1B33"/>
      </a:dk1>
      <a:lt1>
        <a:srgbClr val="FFFFFF"/>
      </a:lt1>
      <a:dk2>
        <a:srgbClr val="1B2A5C"/>
      </a:dk2>
      <a:lt2>
        <a:srgbClr val="EEF2FA"/>
      </a:lt2>
      <a:accent1>
        <a:srgbClr val="00808A"/>
      </a:accent1>
      <a:accent2>
        <a:srgbClr val="D9480F"/>
      </a:accent2>
      <a:accent3>
        <a:srgbClr val="5B6CFF"/>
      </a:accent3>
      <a:accent4>
        <a:srgbClr val="1E8E5A"/>
      </a:accent4>
      <a:accent5>
        <a:srgbClr val="FFB347"/>
      </a:accent5>
      <a:accent6>
        <a:srgbClr val="6B7699"/>
      </a:accent6>
      <a:hlink>
        <a:srgbClr val="00808A"/>
      </a:hlink>
      <a:folHlink>
        <a:srgbClr val="6B7699"/>
      </a:folHlink>
    </a:clrScheme>
    <a:fontScheme name="Quantum Sec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Eavesdroppers with BB84 Quantum Key Distribution</dc:title>
  <dc:subject>PptxGenJS Presentation</dc:subject>
  <dc:creator>Qiskit Fall Fest 2026 team</dc:creator>
  <cp:lastModifiedBy>Qiskit Fall Fest 2026 team</cp:lastModifiedBy>
  <cp:revision>1</cp:revision>
  <dcterms:created xsi:type="dcterms:W3CDTF">2026-10-11T18:32:33Z</dcterms:created>
  <dcterms:modified xsi:type="dcterms:W3CDTF">2026-10-11T18:32:33Z</dcterms:modified>
</cp:coreProperties>
</file>